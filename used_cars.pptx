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1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8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7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25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9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6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5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6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95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095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69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30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87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2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70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8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A415E4-D8C2-461F-B88C-F553932C262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8B02E-93E0-424E-8D28-89F8B4C5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937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93F2-D2BF-5796-19FF-F39B10249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42023"/>
            <a:ext cx="8689976" cy="2509213"/>
          </a:xfrm>
        </p:spPr>
        <p:txBody>
          <a:bodyPr>
            <a:normAutofit/>
          </a:bodyPr>
          <a:lstStyle/>
          <a:p>
            <a:r>
              <a:rPr lang="en-US" sz="5400" b="1" cap="none" dirty="0"/>
              <a:t>Used Car Price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B1AFA5-841D-E0D9-48D3-14A6C559CD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51012" y="3971835"/>
            <a:ext cx="61794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Data Analysis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Tools: Python, Pandas, Matplotlib, Seaborn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Dataset: Used Car Price (Kaggle)</a:t>
            </a:r>
          </a:p>
        </p:txBody>
      </p:sp>
    </p:spTree>
    <p:extLst>
      <p:ext uri="{BB962C8B-B14F-4D97-AF65-F5344CB8AC3E}">
        <p14:creationId xmlns:p14="http://schemas.microsoft.com/office/powerpoint/2010/main" val="39395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3BFC-1FC1-0C6C-60ED-308CEDDFE9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none" dirty="0"/>
              <a:t>PROBLEM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D84D50-4CA6-3BFD-61F7-3B74BE41C6E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51012" y="3971835"/>
            <a:ext cx="82141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Understand the main factors affecting used car prices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Explore relationships between car features and price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Generate insights to support buying &amp; selling decisions</a:t>
            </a:r>
          </a:p>
        </p:txBody>
      </p:sp>
    </p:spTree>
    <p:extLst>
      <p:ext uri="{BB962C8B-B14F-4D97-AF65-F5344CB8AC3E}">
        <p14:creationId xmlns:p14="http://schemas.microsoft.com/office/powerpoint/2010/main" val="183551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DA2A0-7EA4-E36C-F80E-3FCC236BB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2352" y="297895"/>
            <a:ext cx="8689976" cy="2509213"/>
          </a:xfrm>
        </p:spPr>
        <p:txBody>
          <a:bodyPr/>
          <a:lstStyle/>
          <a:p>
            <a:r>
              <a:rPr lang="en-US" b="1" cap="none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A22E9C-3692-2D85-0FB3-7124CDA722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72352" y="3099284"/>
            <a:ext cx="8769505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Total records: 4000+ cars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Features include: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Brand, Model Year, Mileage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Fuel Type, Transmission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Accident History, Price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Data cleaned and standardized before analysis</a:t>
            </a:r>
          </a:p>
        </p:txBody>
      </p:sp>
    </p:spTree>
    <p:extLst>
      <p:ext uri="{BB962C8B-B14F-4D97-AF65-F5344CB8AC3E}">
        <p14:creationId xmlns:p14="http://schemas.microsoft.com/office/powerpoint/2010/main" val="318368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A5CE-437E-8769-2827-8CF40960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/>
              <a:t>Data Cleaning &amp; Preparation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8476099-4D8E-7722-4371-E26ED181333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46111" y="1721784"/>
            <a:ext cx="10046340" cy="420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numeric values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transmission types into main categories</a:t>
            </a:r>
          </a:p>
          <a:p>
            <a:pPr lvl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in fuel type and accident </a:t>
            </a:r>
            <a:r>
              <a:rPr lang="en-US" altLang="en-US" sz="1800" dirty="0">
                <a:latin typeface="Arial" panose="020B0604020202020204" pitchFamily="34" charset="0"/>
              </a:rPr>
              <a:t>and </a:t>
            </a:r>
            <a:r>
              <a:rPr lang="en-US" altLang="en-US" sz="1800" dirty="0" err="1">
                <a:latin typeface="Arial" panose="020B0604020202020204" pitchFamily="34" charset="0"/>
              </a:rPr>
              <a:t>clean_title</a:t>
            </a:r>
            <a:r>
              <a:rPr lang="en-US" altLang="en-US" sz="1800" dirty="0">
                <a:latin typeface="Arial" panose="020B0604020202020204" pitchFamily="34" charset="0"/>
              </a:rPr>
              <a:t> columns </a:t>
            </a:r>
          </a:p>
          <a:p>
            <a:pPr lvl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Adding the kilometer column by converting from milage to kilometers and drop milage column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unsupported </a:t>
            </a:r>
            <a:r>
              <a:rPr lang="en-US" altLang="en-US" dirty="0">
                <a:latin typeface="Arial" panose="020B0604020202020204" pitchFamily="34" charset="0"/>
              </a:rPr>
              <a:t>and Unknown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fuel types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Removed Other transmission isn’t (Automatic or Manual or </a:t>
            </a:r>
            <a:r>
              <a:rPr lang="en-US" altLang="en-US" sz="1800" dirty="0" err="1">
                <a:latin typeface="Arial" panose="020B0604020202020204" pitchFamily="34" charset="0"/>
              </a:rPr>
              <a:t>Cvt</a:t>
            </a:r>
            <a:r>
              <a:rPr lang="en-US" altLang="en-US" sz="1800" dirty="0"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0231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14BE38E-7922-1E07-ADA3-33AE09E9BF1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94" r="9694"/>
          <a:stretch>
            <a:fillRect/>
          </a:stretch>
        </p:blipFill>
        <p:spPr>
          <a:xfrm>
            <a:off x="6429887" y="1435510"/>
            <a:ext cx="5575300" cy="5260258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A2109-64C1-703F-3F04-7FD2945DE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632" y="2566220"/>
            <a:ext cx="6951407" cy="137160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Converted price </a:t>
            </a:r>
          </a:p>
          <a:p>
            <a:pPr marL="342900" indent="-342900">
              <a:buFont typeface="Wingdings 3" charset="2"/>
              <a:buAutoNum type="arabicPeriod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Standardized transmission types into main  categories</a:t>
            </a:r>
          </a:p>
        </p:txBody>
      </p:sp>
    </p:spTree>
    <p:extLst>
      <p:ext uri="{BB962C8B-B14F-4D97-AF65-F5344CB8AC3E}">
        <p14:creationId xmlns:p14="http://schemas.microsoft.com/office/powerpoint/2010/main" val="210495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CCD4C3B-4E72-5BB9-2CA4-329AC5908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60" y="1512457"/>
            <a:ext cx="7706801" cy="1247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DF1681-74C6-C923-7C02-9C8089174DA0}"/>
              </a:ext>
            </a:extLst>
          </p:cNvPr>
          <p:cNvSpPr txBox="1"/>
          <p:nvPr/>
        </p:nvSpPr>
        <p:spPr>
          <a:xfrm>
            <a:off x="767760" y="403123"/>
            <a:ext cx="6735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Handled missing values in fuel type and accident and </a:t>
            </a:r>
            <a:r>
              <a:rPr lang="en-US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clean_title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columns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A8C7C-0A01-F5F9-D41F-11B539690175}"/>
              </a:ext>
            </a:extLst>
          </p:cNvPr>
          <p:cNvSpPr txBox="1"/>
          <p:nvPr/>
        </p:nvSpPr>
        <p:spPr>
          <a:xfrm>
            <a:off x="767760" y="3254942"/>
            <a:ext cx="11011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Adding the kilometer column by converting from milage to kilometers and drop milage column</a:t>
            </a: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1CB916D-6CC5-024F-8D02-A3A419F14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60" y="4145225"/>
            <a:ext cx="8373644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7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DC93E1-596F-F4C4-55D5-1F511F379F3D}"/>
              </a:ext>
            </a:extLst>
          </p:cNvPr>
          <p:cNvSpPr txBox="1"/>
          <p:nvPr/>
        </p:nvSpPr>
        <p:spPr>
          <a:xfrm>
            <a:off x="894734" y="521110"/>
            <a:ext cx="6508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Removed unsupported and Unknown fuel types</a:t>
            </a:r>
          </a:p>
          <a:p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DC8D0B2-0ADE-8F53-13BF-3D401A989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34" y="1228996"/>
            <a:ext cx="11050542" cy="29722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34E231-B4FF-8D22-663E-E89D7EEA7516}"/>
              </a:ext>
            </a:extLst>
          </p:cNvPr>
          <p:cNvSpPr txBox="1"/>
          <p:nvPr/>
        </p:nvSpPr>
        <p:spPr>
          <a:xfrm>
            <a:off x="766916" y="4395019"/>
            <a:ext cx="10910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Removed Other transmission isn’t (Automatic or Manual or </a:t>
            </a:r>
            <a:r>
              <a:rPr lang="en-US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Cvt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) and Unknown Accident </a:t>
            </a: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0B4F993-43DB-DDB8-C54D-A6F6307B4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34" y="4988937"/>
            <a:ext cx="9478298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13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4B3062-9098-9D37-9CD5-AFAE895C41F0}"/>
              </a:ext>
            </a:extLst>
          </p:cNvPr>
          <p:cNvSpPr txBox="1"/>
          <p:nvPr/>
        </p:nvSpPr>
        <p:spPr>
          <a:xfrm>
            <a:off x="3224981" y="1022555"/>
            <a:ext cx="5053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After Handling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0FE72D-8AAE-695D-B55E-1D3F32379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" y="2173965"/>
            <a:ext cx="11090787" cy="43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49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C8EC-1974-EDC3-EC5A-47AB67211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70271"/>
            <a:ext cx="8825658" cy="1090284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2FE90-2F42-A41D-B99E-90286C875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309483"/>
            <a:ext cx="8825658" cy="39782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What Is The Price Distribution ?</a:t>
            </a:r>
          </a:p>
          <a:p>
            <a:pPr>
              <a:lnSpc>
                <a:spcPct val="150000"/>
              </a:lnSpc>
            </a:pPr>
            <a:r>
              <a:rPr lang="en-US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How Does Brand Affect Car Price ?</a:t>
            </a:r>
          </a:p>
          <a:p>
            <a:pPr>
              <a:lnSpc>
                <a:spcPct val="150000"/>
              </a:lnSpc>
            </a:pPr>
            <a:r>
              <a:rPr lang="en-US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 What Is The Relationship Between Model Year And Price ?</a:t>
            </a:r>
          </a:p>
          <a:p>
            <a:pPr>
              <a:lnSpc>
                <a:spcPct val="150000"/>
              </a:lnSpc>
            </a:pPr>
            <a:r>
              <a:rPr lang="en-US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4-does Fuel Type Influence Price ?</a:t>
            </a:r>
          </a:p>
          <a:p>
            <a:pPr>
              <a:lnSpc>
                <a:spcPct val="150000"/>
              </a:lnSpc>
            </a:pPr>
            <a:r>
              <a:rPr lang="en-US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5-how Does Transmission Type Affect Price ?</a:t>
            </a:r>
          </a:p>
          <a:p>
            <a:pPr>
              <a:lnSpc>
                <a:spcPct val="150000"/>
              </a:lnSpc>
            </a:pPr>
            <a:r>
              <a:rPr lang="en-US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6-do Accident History Affect Pricing ?</a:t>
            </a:r>
            <a:r>
              <a:rPr lang="ar-EG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b="1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5638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076231-10FD-E1C7-A490-23965AE77735}"/>
              </a:ext>
            </a:extLst>
          </p:cNvPr>
          <p:cNvSpPr txBox="1"/>
          <p:nvPr/>
        </p:nvSpPr>
        <p:spPr>
          <a:xfrm>
            <a:off x="737419" y="806245"/>
            <a:ext cx="5810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Price Distribution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A graph of a number of cars&#10;&#10;AI-generated content may be incorrect.">
            <a:extLst>
              <a:ext uri="{FF2B5EF4-FFF2-40B4-BE49-F238E27FC236}">
                <a16:creationId xmlns:a16="http://schemas.microsoft.com/office/drawing/2014/main" id="{1865BCDD-275D-05B7-D7D4-47731593C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" y="1918534"/>
            <a:ext cx="8613058" cy="453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91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7427F7-F2D9-DD41-4A67-05869D4BCBA7}"/>
              </a:ext>
            </a:extLst>
          </p:cNvPr>
          <p:cNvSpPr txBox="1"/>
          <p:nvPr/>
        </p:nvSpPr>
        <p:spPr>
          <a:xfrm>
            <a:off x="653844" y="943896"/>
            <a:ext cx="5309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Brand Affect Car Price ?</a:t>
            </a:r>
          </a:p>
        </p:txBody>
      </p:sp>
      <p:pic>
        <p:nvPicPr>
          <p:cNvPr id="4" name="Picture 3" descr="A graph of average price&#10;&#10;AI-generated content may be incorrect.">
            <a:extLst>
              <a:ext uri="{FF2B5EF4-FFF2-40B4-BE49-F238E27FC236}">
                <a16:creationId xmlns:a16="http://schemas.microsoft.com/office/drawing/2014/main" id="{A23EF964-2C6E-4759-0A01-DDD862F60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0" y="1711431"/>
            <a:ext cx="10353368" cy="50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4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82D2FE-4EEA-DECC-5DD2-A19BA8D88AB9}"/>
              </a:ext>
            </a:extLst>
          </p:cNvPr>
          <p:cNvSpPr txBox="1"/>
          <p:nvPr/>
        </p:nvSpPr>
        <p:spPr>
          <a:xfrm>
            <a:off x="737419" y="786581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Relationship Between Model Year And Price ?</a:t>
            </a:r>
          </a:p>
        </p:txBody>
      </p:sp>
      <p:pic>
        <p:nvPicPr>
          <p:cNvPr id="4" name="Picture 3" descr="A graph with blue lines&#10;&#10;AI-generated content may be incorrect.">
            <a:extLst>
              <a:ext uri="{FF2B5EF4-FFF2-40B4-BE49-F238E27FC236}">
                <a16:creationId xmlns:a16="http://schemas.microsoft.com/office/drawing/2014/main" id="{5EC23B31-297E-7CF2-EBE9-2902B8C1C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" y="1627511"/>
            <a:ext cx="10235381" cy="46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69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E96BF-72FB-C0E0-FC6C-5C299BB8EE3B}"/>
              </a:ext>
            </a:extLst>
          </p:cNvPr>
          <p:cNvSpPr txBox="1"/>
          <p:nvPr/>
        </p:nvSpPr>
        <p:spPr>
          <a:xfrm>
            <a:off x="1012723" y="511278"/>
            <a:ext cx="5201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Fuel Type Influence Price</a:t>
            </a:r>
            <a:endParaRPr lang="en-US" sz="3200" dirty="0"/>
          </a:p>
        </p:txBody>
      </p:sp>
      <p:pic>
        <p:nvPicPr>
          <p:cNvPr id="4" name="Picture 3" descr="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A84154D8-7DF0-6B8A-9D28-586D7E060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64" y="1514169"/>
            <a:ext cx="10482446" cy="505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93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8515C-09FC-CF9E-CFF5-15E34C921196}"/>
              </a:ext>
            </a:extLst>
          </p:cNvPr>
          <p:cNvSpPr txBox="1"/>
          <p:nvPr/>
        </p:nvSpPr>
        <p:spPr>
          <a:xfrm>
            <a:off x="560439" y="589936"/>
            <a:ext cx="6577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Transmission Type</a:t>
            </a:r>
            <a:r>
              <a:rPr lang="ar-EG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Affect Price</a:t>
            </a:r>
            <a:endParaRPr lang="en-US" sz="3200" dirty="0"/>
          </a:p>
        </p:txBody>
      </p:sp>
      <p:pic>
        <p:nvPicPr>
          <p:cNvPr id="4" name="Picture 3" descr="A graph showing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BF6A8451-0322-A247-9C10-C490FA0E6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39" y="1483125"/>
            <a:ext cx="10392697" cy="499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28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7E5234-684E-8BDE-35FB-11DCC9A2F40F}"/>
              </a:ext>
            </a:extLst>
          </p:cNvPr>
          <p:cNvSpPr txBox="1"/>
          <p:nvPr/>
        </p:nvSpPr>
        <p:spPr>
          <a:xfrm>
            <a:off x="619433" y="353962"/>
            <a:ext cx="6784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Accident History Affect Pricing</a:t>
            </a:r>
            <a:endParaRPr lang="en-US" sz="3200" dirty="0"/>
          </a:p>
        </p:txBody>
      </p:sp>
      <p:pic>
        <p:nvPicPr>
          <p:cNvPr id="4" name="Picture 3" descr="A graph showing a car crash report&#10;&#10;AI-generated content may be incorrect.">
            <a:extLst>
              <a:ext uri="{FF2B5EF4-FFF2-40B4-BE49-F238E27FC236}">
                <a16:creationId xmlns:a16="http://schemas.microsoft.com/office/drawing/2014/main" id="{A53F92C7-27DF-8E2E-51E8-3788F947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3" y="1351484"/>
            <a:ext cx="8652324" cy="528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08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8E65F8-4EB8-0CE1-84EE-A12652176791}"/>
              </a:ext>
            </a:extLst>
          </p:cNvPr>
          <p:cNvSpPr txBox="1"/>
          <p:nvPr/>
        </p:nvSpPr>
        <p:spPr>
          <a:xfrm>
            <a:off x="825909" y="393290"/>
            <a:ext cx="333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89583-DADF-E0AD-3C92-0F8B9265525F}"/>
              </a:ext>
            </a:extLst>
          </p:cNvPr>
          <p:cNvSpPr txBox="1"/>
          <p:nvPr/>
        </p:nvSpPr>
        <p:spPr>
          <a:xfrm>
            <a:off x="285135" y="1474838"/>
            <a:ext cx="11621729" cy="463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3B2A2C-4755-9CB5-234C-D389FAB21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57" y="1782614"/>
            <a:ext cx="1142508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plays a major role in pricing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Luxury brands consistently show higher average prices compared to economy brands.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Newer model years are priced higher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There is a clear upward trend in prices for newer cars, confirming that car age is a key value 	driver.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Fuel type affects car value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Plug-In Hybrid and Diesel vehicles generally have higher prices than Petrol cars.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transmission cars are more expensive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Automatic vehicles show higher mean prices compared to Manual and CVT cars.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history matters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Cars with clean titles and no accident history maintain higher resale prices.</a:t>
            </a:r>
          </a:p>
        </p:txBody>
      </p:sp>
    </p:spTree>
    <p:extLst>
      <p:ext uri="{BB962C8B-B14F-4D97-AF65-F5344CB8AC3E}">
        <p14:creationId xmlns:p14="http://schemas.microsoft.com/office/powerpoint/2010/main" val="1284150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109</TotalTime>
  <Words>391</Words>
  <Application>Microsoft Office PowerPoint</Application>
  <PresentationFormat>Widescreen</PresentationFormat>
  <Paragraphs>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Wingdings</vt:lpstr>
      <vt:lpstr>Wingdings 3</vt:lpstr>
      <vt:lpstr>Ion</vt:lpstr>
      <vt:lpstr>Used Car Price Analysis</vt:lpstr>
      <vt:lpstr>PROBLEM </vt:lpstr>
      <vt:lpstr>Dataset Overview</vt:lpstr>
      <vt:lpstr>Data Cleaning &amp; Preparation</vt:lpstr>
      <vt:lpstr>PowerPoint Presentation</vt:lpstr>
      <vt:lpstr>PowerPoint Presentation</vt:lpstr>
      <vt:lpstr>PowerPoint Presentation</vt:lpstr>
      <vt:lpstr>PowerPoint Presentation</vt:lpstr>
      <vt:lpstr>Analysis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t73704</dc:creator>
  <cp:lastModifiedBy>t73704</cp:lastModifiedBy>
  <cp:revision>2</cp:revision>
  <dcterms:created xsi:type="dcterms:W3CDTF">2025-12-25T18:56:18Z</dcterms:created>
  <dcterms:modified xsi:type="dcterms:W3CDTF">2025-12-26T13:30:08Z</dcterms:modified>
</cp:coreProperties>
</file>